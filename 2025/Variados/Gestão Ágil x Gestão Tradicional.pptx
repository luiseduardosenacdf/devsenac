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C6AF7-056C-47F8-9BDE-D402E4DAD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785533"/>
            <a:ext cx="7766936" cy="1646302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Gestão Ágil x Gestão Tradicional</a:t>
            </a:r>
          </a:p>
        </p:txBody>
      </p:sp>
    </p:spTree>
    <p:extLst>
      <p:ext uri="{BB962C8B-B14F-4D97-AF65-F5344CB8AC3E}">
        <p14:creationId xmlns:p14="http://schemas.microsoft.com/office/powerpoint/2010/main" val="257747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B2447-410C-45AF-ACD1-18EF33B6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56CF5-022E-46C7-8536-4FAFB65A6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8467"/>
            <a:ext cx="8596668" cy="4762895"/>
          </a:xfrm>
        </p:spPr>
        <p:txBody>
          <a:bodyPr/>
          <a:lstStyle/>
          <a:p>
            <a:r>
              <a:rPr lang="pt-BR" dirty="0"/>
              <a:t>No cenário atual de constantes mudanças e evolução tecnológica, as empresas precisam escolher metodologias de gestão de projetos que melhor se adaptem às suas realidades. Duas abordagens amplamente utilizadas são a </a:t>
            </a:r>
            <a:r>
              <a:rPr lang="pt-BR" b="1" dirty="0"/>
              <a:t>gestão tradicional</a:t>
            </a:r>
            <a:r>
              <a:rPr lang="pt-BR" dirty="0"/>
              <a:t>, baseada em planejamento rigoroso e execução sequencial, e a </a:t>
            </a:r>
            <a:r>
              <a:rPr lang="pt-BR" b="1" dirty="0"/>
              <a:t>gestão ágil</a:t>
            </a:r>
            <a:r>
              <a:rPr lang="pt-BR" dirty="0"/>
              <a:t>, que prioriza flexibilidade, entregas rápidas e colaboração contínua. Compreender as diferenças, vantagens, limitações e os contextos mais adequados para cada uma é essencial para o sucesso dos projetos. Este trabalho apresenta uma visão comparativa entre essas metodologias, ilustrando sua aplicação com estudos de caso reais.</a:t>
            </a:r>
          </a:p>
        </p:txBody>
      </p:sp>
    </p:spTree>
    <p:extLst>
      <p:ext uri="{BB962C8B-B14F-4D97-AF65-F5344CB8AC3E}">
        <p14:creationId xmlns:p14="http://schemas.microsoft.com/office/powerpoint/2010/main" val="139118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412CF-7B3D-4FA2-9B8F-0D01C0CF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CA37B-A4BC-4565-9277-AD00D22C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27189"/>
            <a:ext cx="8991599" cy="3880773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Gestão Ágil: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é um modelo de gestão que utiliza metodologias ágeis. Essas metodologias priorizam a capacidade de adaptação e planejamento progressivo do projeto, diferente de metodologias tradicionais, que requerem um planejamento inicial rígido e poucas mudanças ao longo do projeto.</a:t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Na gestão tradicional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 a ênfase é no planejamento inicial detalhado para identificar, avaliar e determinar as respostas para todos os riscos do projeto. O monitoramento e controle é feito pelo Gerente de Projetos que geralmente identifica quem será o responsável por tratá-lo.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4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E2F7-C773-491E-8E2A-0FF4D093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653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Vantagens e Desvantagens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1EB102F-1FA4-45EA-B7A1-C8DCA5AC4CA9}"/>
              </a:ext>
            </a:extLst>
          </p:cNvPr>
          <p:cNvSpPr/>
          <p:nvPr/>
        </p:nvSpPr>
        <p:spPr>
          <a:xfrm>
            <a:off x="829733" y="1520925"/>
            <a:ext cx="4758267" cy="414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Gestão Tradicional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Vantagens: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Clareza nos requisitos desde o início.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Bom para projetos previsíveis e regulados.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Documentação completa.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Desvantagens: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Pouca flexibilidade para mudanças.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Entregas tardias (risco de só perceber falhas no final).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 gerar retrabalho caso os requisitos mudem.</a:t>
            </a:r>
          </a:p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B9777C-5A25-45F8-8873-7D99974DDF9F}"/>
              </a:ext>
            </a:extLst>
          </p:cNvPr>
          <p:cNvSpPr/>
          <p:nvPr/>
        </p:nvSpPr>
        <p:spPr>
          <a:xfrm>
            <a:off x="6002866" y="1271159"/>
            <a:ext cx="4758267" cy="4642808"/>
          </a:xfrm>
          <a:prstGeom prst="roundRect">
            <a:avLst>
              <a:gd name="adj" fmla="val 16849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Ágil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Vantagens: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Alta flexibilidade e adaptação.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Entregas rápidas e contínuas.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Melhor comunicação com o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Feedback constante = melhorias contínuas.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Desvantagens: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 ser difícil de escalar em grandes equipes sem maturidade.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Menor documentação formal (pode ser um problema em projetos regulados).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Exige alta colaboração e disciplina da equipe.</a:t>
            </a:r>
          </a:p>
        </p:txBody>
      </p:sp>
    </p:spTree>
    <p:extLst>
      <p:ext uri="{BB962C8B-B14F-4D97-AF65-F5344CB8AC3E}">
        <p14:creationId xmlns:p14="http://schemas.microsoft.com/office/powerpoint/2010/main" val="173212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6781D-5096-4A17-85EF-CE92B296B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8867"/>
          </a:xfrm>
        </p:spPr>
        <p:txBody>
          <a:bodyPr>
            <a:normAutofit fontScale="90000"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Quando Usar Cada Uma?</a:t>
            </a:r>
            <a:br>
              <a:rPr lang="pt-BR" b="1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938EB7C-8235-48F9-809A-26C81406D02B}"/>
              </a:ext>
            </a:extLst>
          </p:cNvPr>
          <p:cNvSpPr/>
          <p:nvPr/>
        </p:nvSpPr>
        <p:spPr>
          <a:xfrm>
            <a:off x="829733" y="1520925"/>
            <a:ext cx="4758267" cy="4185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Tradicional: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Projetos com escopo bem definido e estável.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Ambientes com regulamentações rígidas 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construção civil, defesa, setor público).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Equipes acostumadas com processos formais e controle rigoroso.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Orçamentos e prazos fixos, sem espaço para mudanças.</a:t>
            </a:r>
          </a:p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8F62FA3-D5EB-4A8F-A078-0535954E5170}"/>
              </a:ext>
            </a:extLst>
          </p:cNvPr>
          <p:cNvSpPr/>
          <p:nvPr/>
        </p:nvSpPr>
        <p:spPr>
          <a:xfrm>
            <a:off x="5901266" y="1520924"/>
            <a:ext cx="4216400" cy="418560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Ágil: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Projetos com requisitos voláteis ou desconhecidos.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Startups e desenvolvimento de produtos digitais.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Quando há necessidade de respostas rápidas a mudanças.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Projetos com alto envolvimento do cliente.</a:t>
            </a:r>
          </a:p>
          <a:p>
            <a:pPr algn="ctr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95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28CF8-314B-48F7-B229-8231E5300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7733"/>
            <a:ext cx="8596668" cy="660400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Cenário 1 – Metodologia Ágil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E3D9D25-7166-405F-94C6-F2D471C2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728133"/>
            <a:ext cx="9347199" cy="5858933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Situação: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Criar um aplicativo de entregas para uma startup.</a:t>
            </a:r>
          </a:p>
          <a:p>
            <a:pPr marL="0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É um projeto novo, o mercado está em constante mudança, e o cliente ainda está descobrindo o que quer.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Por que usar Ágil?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Cliente muda de ideia o tempo todo: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Como o cliente ainda não tem certeza de tudo o que quer, a metodologia ágil permite que o time vá ajustando o sistema conforme os testes vão acontecendo.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Precisa lançar rápido no mercado: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Não dá pra esperar o projeto ficar 100% pronto. A ideia é lançar uma primeira versão simples, e depois ir melhorando com base nos comentários dos usuários.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Equipe pequena e ágil: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Times menores conseguem se comunicar melhor e decidir mais rápido, o que ajuda muito no ágil.</a:t>
            </a:r>
          </a:p>
        </p:txBody>
      </p:sp>
    </p:spTree>
    <p:extLst>
      <p:ext uri="{BB962C8B-B14F-4D97-AF65-F5344CB8AC3E}">
        <p14:creationId xmlns:p14="http://schemas.microsoft.com/office/powerpoint/2010/main" val="276152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32AD7-FF62-4F6A-B893-3C9872D7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0133"/>
            <a:ext cx="8596668" cy="677333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Como funciona na prática 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C782B-EC8A-4F4D-8D5D-764FD11B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0267"/>
            <a:ext cx="8923867" cy="2794000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trabalho é dividido em pequenas etapas (chamadas de “Sprints”), por exemplo: "Nas próximas 2 semanas vamos criar o login do app.”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 final de cada sprint, o time entrega uma parte funcional do sistema. Ou seja, sempre tem alguma coisa rodando.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Reuniões rápidas todo dia (chamadas de “daily”) onde a equipe fala o que fez, o que vai fazer e se está com algum problema.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cliente participa o tempo todo, dando feedback direto e ajudando a decidir o que vem na próxima sprint.</a:t>
            </a:r>
          </a:p>
        </p:txBody>
      </p:sp>
    </p:spTree>
    <p:extLst>
      <p:ext uri="{BB962C8B-B14F-4D97-AF65-F5344CB8AC3E}">
        <p14:creationId xmlns:p14="http://schemas.microsoft.com/office/powerpoint/2010/main" val="2960264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28CF8-314B-48F7-B229-8231E5300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7733"/>
            <a:ext cx="8596668" cy="660400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Cenário 2 – Metodologia Tradicional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E3D9D25-7166-405F-94C6-F2D471C2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728133"/>
            <a:ext cx="9347199" cy="5858933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Situação: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Criar um sistema de controle financeiro para uma empresa grande.</a:t>
            </a:r>
          </a:p>
          <a:p>
            <a:pPr marL="0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Aqui o projeto é mais sério, com muitas regras e pouco espaço pra erro.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Por que usar a Metodologia Tradicional?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Tudo já está bem definido no começo: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cliente já sabe exatamente o que quer, então dá pra planejar tudo com antecedência.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Sistema muito critico: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Como envolve dados financeiros e integração com outros sistemas da empresa, precisa ser feito com muito cuidado, sem mudar as regras no meio do caminho.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Precisa de documentação e registro de tudo: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Isso é importante pra auditorias e controle interno. Cada etapa tem que estar bem registrada.</a:t>
            </a:r>
          </a:p>
        </p:txBody>
      </p:sp>
    </p:spTree>
    <p:extLst>
      <p:ext uri="{BB962C8B-B14F-4D97-AF65-F5344CB8AC3E}">
        <p14:creationId xmlns:p14="http://schemas.microsoft.com/office/powerpoint/2010/main" val="74197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FBD90-DC02-4610-B884-E81021C5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733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Como funciona na prática 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BF389-6A0E-450E-BA14-AFD9AF881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056"/>
            <a:ext cx="8596668" cy="3880773"/>
          </a:xfrm>
        </p:spPr>
        <p:txBody>
          <a:bodyPr>
            <a:normAutofit/>
          </a:bodyPr>
          <a:lstStyle/>
          <a:p>
            <a:r>
              <a:rPr lang="pt-BR" dirty="0"/>
              <a:t>O projeto segue uma ordem de etapas bem certinha, tipo uma escada: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Primeiro ouve o cliente e levanta os requisitos.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Depois faz o planejamento e o desenho do sistema.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Só então começa a programar.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Depois testa tudo.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E só no final entrega o sistema funcionando.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É como construir uma casa: você não começa pelo telhado. Precisa terminar uma etapa antes de ir pra próxima.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Pouco espaço pra mudanças: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o cliente quiser mudar alguma coisa no meio do caminho, pode atrasar o projeto e custar caro.</a:t>
            </a:r>
          </a:p>
        </p:txBody>
      </p:sp>
    </p:spTree>
    <p:extLst>
      <p:ext uri="{BB962C8B-B14F-4D97-AF65-F5344CB8AC3E}">
        <p14:creationId xmlns:p14="http://schemas.microsoft.com/office/powerpoint/2010/main" val="1190771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1D52C-54D3-4BFF-A3D5-37BBC4283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4" y="381000"/>
            <a:ext cx="8596668" cy="651933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Comparativo Rápido: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13A94F5-4288-47FE-A92A-CF3A462AF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06063"/>
              </p:ext>
            </p:extLst>
          </p:nvPr>
        </p:nvGraphicFramePr>
        <p:xfrm>
          <a:off x="973667" y="1032933"/>
          <a:ext cx="968586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622">
                  <a:extLst>
                    <a:ext uri="{9D8B030D-6E8A-4147-A177-3AD203B41FA5}">
                      <a16:colId xmlns:a16="http://schemas.microsoft.com/office/drawing/2014/main" val="1728496742"/>
                    </a:ext>
                  </a:extLst>
                </a:gridCol>
                <a:gridCol w="3228622">
                  <a:extLst>
                    <a:ext uri="{9D8B030D-6E8A-4147-A177-3AD203B41FA5}">
                      <a16:colId xmlns:a16="http://schemas.microsoft.com/office/drawing/2014/main" val="1707588114"/>
                    </a:ext>
                  </a:extLst>
                </a:gridCol>
                <a:gridCol w="3228622">
                  <a:extLst>
                    <a:ext uri="{9D8B030D-6E8A-4147-A177-3AD203B41FA5}">
                      <a16:colId xmlns:a16="http://schemas.microsoft.com/office/drawing/2014/main" val="1954899238"/>
                    </a:ext>
                  </a:extLst>
                </a:gridCol>
              </a:tblGrid>
              <a:tr h="615386">
                <a:tc>
                  <a:txBody>
                    <a:bodyPr/>
                    <a:lstStyle/>
                    <a:p>
                      <a:r>
                        <a:rPr lang="pt-BR" dirty="0"/>
                        <a:t>Mudanças no</a:t>
                      </a:r>
                    </a:p>
                    <a:p>
                      <a:r>
                        <a:rPr lang="pt-BR" dirty="0"/>
                        <a:t>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Pode mudar a qualquer</a:t>
                      </a:r>
                    </a:p>
                    <a:p>
                      <a:r>
                        <a:rPr lang="pt-BR" dirty="0"/>
                        <a:t>momento.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Muito difícil mudar depois de começar.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47097"/>
                  </a:ext>
                </a:extLst>
              </a:tr>
              <a:tr h="879122">
                <a:tc>
                  <a:txBody>
                    <a:bodyPr/>
                    <a:lstStyle/>
                    <a:p>
                      <a:r>
                        <a:rPr lang="pt-BR" dirty="0"/>
                        <a:t>Entrega do</a:t>
                      </a:r>
                    </a:p>
                    <a:p>
                      <a:r>
                        <a:rPr lang="pt-BR" dirty="0"/>
                        <a:t>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Vai sendo entregue aos poucos,</a:t>
                      </a:r>
                    </a:p>
                    <a:p>
                      <a:r>
                        <a:rPr lang="pt-BR" dirty="0"/>
                        <a:t>parte por parte.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Só entrega no final, quando tudo</a:t>
                      </a:r>
                    </a:p>
                    <a:p>
                      <a:r>
                        <a:rPr lang="pt-BR" dirty="0"/>
                        <a:t>estiver pronto.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440157"/>
                  </a:ext>
                </a:extLst>
              </a:tr>
              <a:tr h="879122">
                <a:tc>
                  <a:txBody>
                    <a:bodyPr/>
                    <a:lstStyle/>
                    <a:p>
                      <a:r>
                        <a:rPr lang="pt-BR" dirty="0"/>
                        <a:t>Contato com o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cliente participa o tempo todo.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cliente aparece mais no começo e no</a:t>
                      </a:r>
                    </a:p>
                    <a:p>
                      <a:r>
                        <a:rPr lang="pt-BR" dirty="0"/>
                        <a:t>final.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951688"/>
                  </a:ext>
                </a:extLst>
              </a:tr>
              <a:tr h="879122">
                <a:tc>
                  <a:txBody>
                    <a:bodyPr/>
                    <a:lstStyle/>
                    <a:p>
                      <a:r>
                        <a:rPr lang="pt-BR" dirty="0"/>
                        <a:t>Planejamento</a:t>
                      </a:r>
                    </a:p>
                    <a:p>
                      <a:r>
                        <a:rPr lang="pt-BR" dirty="0"/>
                        <a:t>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Planeja só o que for necessário</a:t>
                      </a:r>
                    </a:p>
                    <a:p>
                      <a:r>
                        <a:rPr lang="pt-BR" dirty="0"/>
                        <a:t>pra começar.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Planeja tudo antes de começar.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067474"/>
                  </a:ext>
                </a:extLst>
              </a:tr>
              <a:tr h="879122">
                <a:tc>
                  <a:txBody>
                    <a:bodyPr/>
                    <a:lstStyle/>
                    <a:p>
                      <a:r>
                        <a:rPr lang="pt-BR" dirty="0"/>
                        <a:t>Documentação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Só o básico, o foco é em entregar.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Tudo é bem documentado, por</a:t>
                      </a:r>
                    </a:p>
                    <a:p>
                      <a:r>
                        <a:rPr lang="pt-BR" dirty="0"/>
                        <a:t>segurança e controle.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119143"/>
                  </a:ext>
                </a:extLst>
              </a:tr>
              <a:tr h="1142859">
                <a:tc>
                  <a:txBody>
                    <a:bodyPr/>
                    <a:lstStyle/>
                    <a:p>
                      <a:r>
                        <a:rPr lang="pt-BR" dirty="0"/>
                        <a:t>Tipo de projeto</a:t>
                      </a:r>
                    </a:p>
                    <a:p>
                      <a:r>
                        <a:rPr lang="pt-BR" dirty="0"/>
                        <a:t>ideal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Projetos que mudam muito, com</a:t>
                      </a:r>
                    </a:p>
                    <a:p>
                      <a:r>
                        <a:rPr lang="pt-BR" dirty="0"/>
                        <a:t>muita interação e testes rápidos.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Projetos bem definidos, com regras</a:t>
                      </a:r>
                    </a:p>
                    <a:p>
                      <a:r>
                        <a:rPr lang="pt-BR" dirty="0"/>
                        <a:t>rígidas e pouco espaço pra improviso.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454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211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B158-150B-4685-B5A0-EFD6770B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1667"/>
            <a:ext cx="8596668" cy="604972"/>
          </a:xfrm>
        </p:spPr>
        <p:txBody>
          <a:bodyPr>
            <a:normAutofit fontScale="90000"/>
          </a:bodyPr>
          <a:lstStyle/>
          <a:p>
            <a:r>
              <a:rPr lang="pt-BR" dirty="0"/>
              <a:t> Estudo de caso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2BE34-B2AB-40A3-861D-4D639DA5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816639"/>
            <a:ext cx="9457267" cy="5829694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Abordagem com Gestão Ágil (Scrum)</a:t>
            </a:r>
          </a:p>
          <a:p>
            <a:r>
              <a:rPr lang="pt-BR" b="1" dirty="0"/>
              <a:t>1. Formação do time ágil: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Equipe multidisciplinar: 1 Product Owner, 1 Scrum Master, 4 desenvolvedores, 1 designer.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Cliente (sócio da startup) acompanha ativamente o processo.</a:t>
            </a:r>
          </a:p>
          <a:p>
            <a:r>
              <a:rPr lang="pt-BR" b="1" dirty="0"/>
              <a:t>2. Levantamento inicial de requisitos (Backlog do Produto):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Lista de funcionalidades desejadas: login, recomendação personalizada, dashboard do aluno, trilhas de aprendizagem etc.</a:t>
            </a:r>
          </a:p>
          <a:p>
            <a:r>
              <a:rPr lang="pt-BR" b="1" dirty="0"/>
              <a:t>3. Planejamento de Sprints: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Divisão do backlog em entregas quinzenais (sprints).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Priorização de funcionalidades com base em valor para o usuário.</a:t>
            </a:r>
          </a:p>
          <a:p>
            <a:r>
              <a:rPr lang="pt-BR" b="1" dirty="0"/>
              <a:t>4. Execução por ciclos: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A cada sprint, a equipe entrega uma parte funcional do sistema.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Ex: Sprint 1 → login e cadastro; Sprint 2 → trilhas de curso; Sprint 3 → sistema de recomendação.</a:t>
            </a:r>
          </a:p>
          <a:p>
            <a:r>
              <a:rPr lang="pt-BR" b="1" dirty="0"/>
              <a:t>5. Reuniões e feedback contínuo: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Daily Scrum (15 min por dia).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Sprint Review com apresentação ao cliente e usuários-teste.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Sprint Retrospective para ajustes no processo.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023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93415-50FC-4237-B640-457A2017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7333"/>
          </a:xfrm>
        </p:spPr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196829-3F03-4486-9774-33BA0D857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6201"/>
            <a:ext cx="8596668" cy="4695162"/>
          </a:xfrm>
        </p:spPr>
        <p:txBody>
          <a:bodyPr/>
          <a:lstStyle/>
          <a:p>
            <a:r>
              <a:rPr lang="pt-BR" b="1" dirty="0"/>
              <a:t>6. Adaptação constante: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A plataforma foi adaptada com base no uso real: usuários queriam notificações, então essa funcionalidade foi priorizada no Sprint 4.</a:t>
            </a:r>
          </a:p>
          <a:p>
            <a:r>
              <a:rPr lang="pt-BR" b="1" dirty="0"/>
              <a:t>7. Resultado: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MVP entregue em 3 meses.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Baseado no feedback, a plataforma foi refinada e lançada com bom engajamento dos primeiros usuários.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6101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ADB7A-975A-408C-AB1A-EA0A0BFA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7400"/>
          </a:xfrm>
        </p:spPr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543EE8-CDCA-4DFC-B344-1B3EC6EE9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97000"/>
            <a:ext cx="8932333" cy="4851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b="1" dirty="0"/>
              <a:t>Abordagem com Gestão Tradicional (baseada no PMBOK)</a:t>
            </a:r>
          </a:p>
          <a:p>
            <a:r>
              <a:rPr lang="pt-BR" b="1" dirty="0"/>
              <a:t>1. Iniciação: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Elaboração do Termo de Abertura do Projeto (Project Charter).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Identificação de stakeholders e definição clara do escopo.</a:t>
            </a:r>
          </a:p>
          <a:p>
            <a:r>
              <a:rPr lang="pt-BR" b="1" dirty="0"/>
              <a:t>2. Planejamento: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Plano de Gerenciamento do Projeto detalhado: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Escopo, cronograma (linha do tempo), orçamento, riscos, qualidade, comunicações, aquisições, recursos humanos.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Criação da EAP (Estrutura Analítica do Projeto) com todas as entregas.</a:t>
            </a:r>
          </a:p>
          <a:p>
            <a:r>
              <a:rPr lang="pt-BR" b="1" dirty="0"/>
              <a:t>3. Execução: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Desenvolvimento do sistema segue um cronograma rígido: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Fase 1: Levantamento de requisitos.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Fase 2: Design da solução.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Fase 3: Codificação.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Fase 4: Testes.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Fase 5: Implantação e treinamento.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1807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DC1D4-076E-495D-BA19-69E09F28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533"/>
          </a:xfrm>
        </p:spPr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A4D9D-0276-4A20-A0AA-0183DCA9A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2401"/>
            <a:ext cx="9381066" cy="4732866"/>
          </a:xfrm>
        </p:spPr>
        <p:txBody>
          <a:bodyPr>
            <a:normAutofit/>
          </a:bodyPr>
          <a:lstStyle/>
          <a:p>
            <a:r>
              <a:rPr lang="pt-BR" b="1" dirty="0"/>
              <a:t>4. Monitoramento e controle: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Utilização de KPIs e relatórios semanais de progresso.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Controle de mudanças via Comitê de Controle de Mudanças (CCM).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Gerenciamento de riscos com planos de contingência e mitigação.</a:t>
            </a:r>
          </a:p>
          <a:p>
            <a:r>
              <a:rPr lang="pt-BR" b="1" dirty="0"/>
              <a:t>5. Encerramento: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Validação da entrega com o cliente.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Documentação final, relatórios e lições aprendidas.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Termo de encerramento do projeto assinado.</a:t>
            </a:r>
          </a:p>
          <a:p>
            <a:r>
              <a:rPr lang="pt-BR" b="1" dirty="0"/>
              <a:t>6. Resultado: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Sistema entregue no prazo, conforme requisitos definidos.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Boa aceitação pelo cliente, com destaque para a formalidade e robustez do processo.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9079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56685-5FFF-4AF2-A5AE-00A02436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5867"/>
          </a:xfrm>
        </p:spPr>
        <p:txBody>
          <a:bodyPr/>
          <a:lstStyle/>
          <a:p>
            <a:r>
              <a:rPr lang="pt-BR" dirty="0"/>
              <a:t>Comparação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2FD984A-C99B-46D2-91FA-7C9865E08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616991"/>
              </p:ext>
            </p:extLst>
          </p:nvPr>
        </p:nvGraphicFramePr>
        <p:xfrm>
          <a:off x="733047" y="1524000"/>
          <a:ext cx="9520086" cy="4539156"/>
        </p:xfrm>
        <a:graphic>
          <a:graphicData uri="http://schemas.openxmlformats.org/drawingml/2006/table">
            <a:tbl>
              <a:tblPr/>
              <a:tblGrid>
                <a:gridCol w="3173362">
                  <a:extLst>
                    <a:ext uri="{9D8B030D-6E8A-4147-A177-3AD203B41FA5}">
                      <a16:colId xmlns:a16="http://schemas.microsoft.com/office/drawing/2014/main" val="965363970"/>
                    </a:ext>
                  </a:extLst>
                </a:gridCol>
                <a:gridCol w="3173362">
                  <a:extLst>
                    <a:ext uri="{9D8B030D-6E8A-4147-A177-3AD203B41FA5}">
                      <a16:colId xmlns:a16="http://schemas.microsoft.com/office/drawing/2014/main" val="1317540685"/>
                    </a:ext>
                  </a:extLst>
                </a:gridCol>
                <a:gridCol w="3173362">
                  <a:extLst>
                    <a:ext uri="{9D8B030D-6E8A-4147-A177-3AD203B41FA5}">
                      <a16:colId xmlns:a16="http://schemas.microsoft.com/office/drawing/2014/main" val="3240676361"/>
                    </a:ext>
                  </a:extLst>
                </a:gridCol>
              </a:tblGrid>
              <a:tr h="739122">
                <a:tc>
                  <a:txBody>
                    <a:bodyPr/>
                    <a:lstStyle/>
                    <a:p>
                      <a:r>
                        <a:rPr lang="pt-BR" sz="1800"/>
                        <a:t>Aspecto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Gestão Ágil (Startup)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Gestão Tradicional (Empresa Pública)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983383"/>
                  </a:ext>
                </a:extLst>
              </a:tr>
              <a:tr h="739122">
                <a:tc>
                  <a:txBody>
                    <a:bodyPr/>
                    <a:lstStyle/>
                    <a:p>
                      <a:r>
                        <a:rPr lang="pt-BR" sz="1800" b="1"/>
                        <a:t>Foco</a:t>
                      </a:r>
                      <a:endParaRPr lang="pt-BR" sz="180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Flexibilidade, entrega contínua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Controle, documentação, previsibilidade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959791"/>
                  </a:ext>
                </a:extLst>
              </a:tr>
              <a:tr h="739122">
                <a:tc>
                  <a:txBody>
                    <a:bodyPr/>
                    <a:lstStyle/>
                    <a:p>
                      <a:r>
                        <a:rPr lang="pt-BR" sz="1800" b="1" dirty="0"/>
                        <a:t>Cliente</a:t>
                      </a:r>
                      <a:endParaRPr lang="pt-BR" sz="1800" dirty="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Participação ativa e frequente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Participação pontual em fases-chave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63222"/>
                  </a:ext>
                </a:extLst>
              </a:tr>
              <a:tr h="421773">
                <a:tc>
                  <a:txBody>
                    <a:bodyPr/>
                    <a:lstStyle/>
                    <a:p>
                      <a:r>
                        <a:rPr lang="pt-BR" sz="1800" b="1"/>
                        <a:t>Documentação</a:t>
                      </a:r>
                      <a:endParaRPr lang="pt-BR" sz="180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Mínima e enxuta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Completa e formal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463697"/>
                  </a:ext>
                </a:extLst>
              </a:tr>
              <a:tr h="421773">
                <a:tc>
                  <a:txBody>
                    <a:bodyPr/>
                    <a:lstStyle/>
                    <a:p>
                      <a:r>
                        <a:rPr lang="pt-BR" sz="1800" b="1"/>
                        <a:t>Mudanças</a:t>
                      </a:r>
                      <a:endParaRPr lang="pt-BR" sz="180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Acolhidas com facilidade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Controladas formalmente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814587"/>
                  </a:ext>
                </a:extLst>
              </a:tr>
              <a:tr h="739122">
                <a:tc>
                  <a:txBody>
                    <a:bodyPr/>
                    <a:lstStyle/>
                    <a:p>
                      <a:r>
                        <a:rPr lang="pt-BR" sz="1800" b="1"/>
                        <a:t>Tempo de entrega</a:t>
                      </a:r>
                      <a:endParaRPr lang="pt-BR" sz="180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Curto (MVP em 3 meses)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Total do projeto em 6 meses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813004"/>
                  </a:ext>
                </a:extLst>
              </a:tr>
              <a:tr h="739122">
                <a:tc>
                  <a:txBody>
                    <a:bodyPr/>
                    <a:lstStyle/>
                    <a:p>
                      <a:r>
                        <a:rPr lang="pt-BR" sz="1800" b="1"/>
                        <a:t>Ferramentas</a:t>
                      </a:r>
                      <a:endParaRPr lang="pt-BR" sz="180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Scrum, Trello, reuniões diárias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PMBOK, MS Project, relatórios, EAP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877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091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8E427-4485-491F-9687-880DB591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733"/>
          </a:xfrm>
        </p:spPr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BA816-B267-423B-A0BC-6BBBF261D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2589"/>
            <a:ext cx="8596668" cy="3880773"/>
          </a:xfrm>
        </p:spPr>
        <p:txBody>
          <a:bodyPr/>
          <a:lstStyle/>
          <a:p>
            <a:r>
              <a:rPr lang="pt-BR" dirty="0"/>
              <a:t>Ao comparar a gestão ágil e a tradicional, percebemos que </a:t>
            </a:r>
            <a:r>
              <a:rPr lang="pt-BR" b="1" dirty="0"/>
              <a:t>não existe uma metodologia universalmente superior</a:t>
            </a:r>
            <a:r>
              <a:rPr lang="pt-BR" dirty="0"/>
              <a:t>, mas sim abordagens mais adequadas a </a:t>
            </a:r>
            <a:r>
              <a:rPr lang="pt-BR" b="1" dirty="0"/>
              <a:t>diferentes tipos de projetos, equipes e contextos</a:t>
            </a:r>
            <a:r>
              <a:rPr lang="pt-BR" dirty="0"/>
              <a:t>.</a:t>
            </a:r>
          </a:p>
          <a:p>
            <a:r>
              <a:rPr lang="pt-BR" dirty="0"/>
              <a:t>A </a:t>
            </a:r>
            <a:r>
              <a:rPr lang="pt-BR" b="1" dirty="0"/>
              <a:t>gestão tradicional</a:t>
            </a:r>
            <a:r>
              <a:rPr lang="pt-BR" dirty="0"/>
              <a:t>, com seu planejamento detalhado e controle rigoroso, é ideal para projetos com escopo bem definido e poucas chances de mudança. Já a </a:t>
            </a:r>
            <a:r>
              <a:rPr lang="pt-BR" b="1" dirty="0"/>
              <a:t>gestão ágil</a:t>
            </a:r>
            <a:r>
              <a:rPr lang="pt-BR" dirty="0"/>
              <a:t> se destaca em ambientes dinâmicos, onde a flexibilidade, a colaboração e a entrega contínua de valor são essenciais.</a:t>
            </a:r>
          </a:p>
          <a:p>
            <a:r>
              <a:rPr lang="pt-BR" dirty="0"/>
              <a:t>Cabe às empresas — e aos gestores — </a:t>
            </a:r>
            <a:r>
              <a:rPr lang="pt-BR" b="1" dirty="0"/>
              <a:t>avaliar suas necessidades e objetivos</a:t>
            </a:r>
            <a:r>
              <a:rPr lang="pt-BR" dirty="0"/>
              <a:t> para escolher a abordagem mais eficaz, ou até mesmo combinar elementos de ambas em modelos híbridos. O mais importante é garantir que a metodologia escolhida </a:t>
            </a:r>
            <a:r>
              <a:rPr lang="pt-BR" b="1" dirty="0"/>
              <a:t>contribua para o sucesso do projeto e a satisfação do cliente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36567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</TotalTime>
  <Words>1661</Words>
  <Application>Microsoft Office PowerPoint</Application>
  <PresentationFormat>Widescreen</PresentationFormat>
  <Paragraphs>183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Facetado</vt:lpstr>
      <vt:lpstr>Gestão Ágil x Gestão Tradicional</vt:lpstr>
      <vt:lpstr>Introdução</vt:lpstr>
      <vt:lpstr>Conceituação</vt:lpstr>
      <vt:lpstr>Vantagens e Desvantagens</vt:lpstr>
      <vt:lpstr>Quando Usar Cada Uma? </vt:lpstr>
      <vt:lpstr>Cenário 1 – Metodologia Ágil</vt:lpstr>
      <vt:lpstr>Como funciona na prática :</vt:lpstr>
      <vt:lpstr>Cenário 2 – Metodologia Tradicional</vt:lpstr>
      <vt:lpstr>Como funciona na prática :</vt:lpstr>
      <vt:lpstr>Comparativo Rápido:</vt:lpstr>
      <vt:lpstr> Estudo de caso</vt:lpstr>
      <vt:lpstr>Estudo de caso</vt:lpstr>
      <vt:lpstr>Estudo de caso</vt:lpstr>
      <vt:lpstr>Estudo de Caso</vt:lpstr>
      <vt:lpstr>Comparação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Ágil x Gestão Tradicional</dc:title>
  <dc:creator>William dos Santos Rodrigues</dc:creator>
  <cp:lastModifiedBy>William dos Santos Rodrigues</cp:lastModifiedBy>
  <cp:revision>13</cp:revision>
  <dcterms:created xsi:type="dcterms:W3CDTF">2025-04-14T17:45:06Z</dcterms:created>
  <dcterms:modified xsi:type="dcterms:W3CDTF">2025-04-14T20:26:05Z</dcterms:modified>
</cp:coreProperties>
</file>